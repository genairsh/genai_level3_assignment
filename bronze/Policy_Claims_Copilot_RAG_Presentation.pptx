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4233C"/>
                </a:solidFill>
                <a:latin typeface="Aptos Display"/>
              </a:defRPr>
            </a:pPr>
            <a:r>
              <a:t>Policy &amp; Claims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331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D5FAA"/>
                </a:solidFill>
              </a:defRPr>
            </a:pPr>
            <a:r>
              <a:t>Customer Support + Claims Pre-check using LLM and 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03320"/>
            <a:ext cx="3246120" cy="1234440"/>
          </a:xfrm>
          <a:prstGeom prst="roundRect">
            <a:avLst/>
          </a:prstGeom>
          <a:solidFill>
            <a:srgbClr val="E1EC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703320"/>
            <a:ext cx="64008" cy="123444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813048"/>
            <a:ext cx="29535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233C"/>
                </a:solidFill>
                <a:latin typeface="Aptos"/>
              </a:defRPr>
            </a:pPr>
            <a:r>
              <a:t>Grounded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206240"/>
            <a:ext cx="29535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Retrieve policy clauses before generating a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246120" cy="1234440"/>
          </a:xfrm>
          <a:prstGeom prst="roundRect">
            <a:avLst/>
          </a:prstGeom>
          <a:solidFill>
            <a:srgbClr val="E2F4EB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703320"/>
            <a:ext cx="64008" cy="123444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3813048"/>
            <a:ext cx="29535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233C"/>
                </a:solidFill>
                <a:latin typeface="Aptos"/>
              </a:defRPr>
            </a:pPr>
            <a:r>
              <a:t>Source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4206240"/>
            <a:ext cx="29535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Show the policy page and section supporting the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703320"/>
            <a:ext cx="3246120" cy="1234440"/>
          </a:xfrm>
          <a:prstGeom prst="roundRect">
            <a:avLst/>
          </a:prstGeom>
          <a:solidFill>
            <a:srgbClr val="FAEEDC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3703320"/>
            <a:ext cx="64008" cy="123444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3813048"/>
            <a:ext cx="29535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233C"/>
                </a:solidFill>
                <a:latin typeface="Aptos"/>
              </a:defRPr>
            </a:pPr>
            <a:r>
              <a:t>Claims Pre-check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4206240"/>
            <a:ext cx="29535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Identify conditions, gaps and next steps — not final approval.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978"/>
                </a:solidFill>
              </a:defRPr>
            </a:pPr>
            <a:r>
              <a:t>Gen AI Developer Program — Project &amp;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Why do we need a Policy &amp; Claims Copilot?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31363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Customer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20240"/>
            <a:ext cx="313639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Customers need quick answers about coverage, exclusions, limits, waiting periods, claim steps and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417320"/>
            <a:ext cx="64008" cy="182880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527048"/>
            <a:ext cx="31363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Agent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920240"/>
            <a:ext cx="313639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Support teams may spend time searching long policy PDFs and explaining repeated clauses.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3" y="1417320"/>
            <a:ext cx="64008" cy="182880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527048"/>
            <a:ext cx="31363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Claims delays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920240"/>
            <a:ext cx="313639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Missing documents or misunderstood eligibility can cause avoidable delays and rework.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886200"/>
            <a:ext cx="9784080" cy="914400"/>
          </a:xfrm>
          <a:prstGeom prst="roundRect">
            <a:avLst/>
          </a:prstGeom>
          <a:solidFill>
            <a:srgbClr val="E2F4EB"/>
          </a:solidFill>
          <a:ln w="1524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050791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233C"/>
                </a:solidFill>
                <a:latin typeface="Aptos"/>
              </a:defRPr>
            </a:pPr>
            <a:r>
              <a:t>Goal: fast, consistent and policy-grounded answers + a preliminary claim pre-check.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Do not invent policy terms.</a:t>
            </a:r>
          </a:p>
          <a:p>
            <a:pPr>
              <a:spcAft>
                <a:spcPts val="7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Do not make an unauthorized final claim decision.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2. What the Copilot Must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Core capabilities implemented in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150876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28620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233C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286207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What is covered / excluded?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17320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417320"/>
            <a:ext cx="64008" cy="150876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527048"/>
            <a:ext cx="28620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233C"/>
                </a:solidFill>
                <a:latin typeface="Aptos"/>
              </a:defRPr>
            </a:pPr>
            <a:r>
              <a:t>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920240"/>
            <a:ext cx="286207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Policy limits and sub-limits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17320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417320"/>
            <a:ext cx="64008" cy="150876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1527048"/>
            <a:ext cx="28620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233C"/>
                </a:solidFill>
                <a:latin typeface="Aptos"/>
              </a:defRPr>
            </a:pPr>
            <a:r>
              <a:t>Waiting periods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1920240"/>
            <a:ext cx="286207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Eligibility conditions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64008" cy="150876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67328"/>
            <a:ext cx="28620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233C"/>
                </a:solidFill>
                <a:latin typeface="Aptos"/>
              </a:defRPr>
            </a:pPr>
            <a:r>
              <a:t>Claim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160520"/>
            <a:ext cx="286207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Steps and timelines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657600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657600"/>
            <a:ext cx="64008" cy="150876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3767328"/>
            <a:ext cx="28620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233C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4160520"/>
            <a:ext cx="286207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Required supporting 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657600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3657600"/>
            <a:ext cx="64008" cy="150876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6992" y="3767328"/>
            <a:ext cx="28620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233C"/>
                </a:solidFill>
                <a:latin typeface="Aptos"/>
              </a:defRPr>
            </a:pPr>
            <a:r>
              <a:t>Pre-check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4160520"/>
            <a:ext cx="286207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Potential issues before submission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3. Why RAG Instead of a Plain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The key architectural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66360" cy="3108960"/>
          </a:xfrm>
          <a:prstGeom prst="roundRect">
            <a:avLst/>
          </a:prstGeom>
          <a:solidFill>
            <a:srgbClr val="F9E5E5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310896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48737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4233C"/>
                </a:solidFill>
                <a:latin typeface="Aptos"/>
              </a:defRPr>
            </a:pPr>
            <a:r>
              <a:t>Plain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4873752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978"/>
                </a:solidFill>
                <a:latin typeface="Aptos"/>
              </a:defRPr>
            </a:pPr>
            <a:r>
              <a:t>• May know general insurance concepts</a:t>
            </a:r>
            <a:br/>
            <a:r>
              <a:t>• Does not automatically know the exact policy wording</a:t>
            </a:r>
            <a:br/>
            <a:r>
              <a:t>• Can produce plausible but unsupported answers</a:t>
            </a:r>
            <a:br/>
            <a:r>
              <a:t>• No reliable source trail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166360" cy="3108960"/>
          </a:xfrm>
          <a:prstGeom prst="roundRect">
            <a:avLst/>
          </a:prstGeom>
          <a:solidFill>
            <a:srgbClr val="E2F4EB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64008" cy="310896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435607"/>
            <a:ext cx="48737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4233C"/>
                </a:solidFill>
                <a:latin typeface="Aptos"/>
              </a:defRPr>
            </a:pPr>
            <a:r>
              <a:t>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828800"/>
            <a:ext cx="4873752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978"/>
                </a:solidFill>
                <a:latin typeface="Aptos"/>
              </a:defRPr>
            </a:pPr>
            <a:r>
              <a:t>• Retrieves relevant policy clauses first</a:t>
            </a:r>
            <a:br/>
            <a:r>
              <a:t>• Sends those clauses to the LLM as context</a:t>
            </a:r>
            <a:br/>
            <a:r>
              <a:t>• Grounds the answer in the document</a:t>
            </a:r>
            <a:br/>
            <a:r>
              <a:t>• Returns page/section evidence</a:t>
            </a:r>
            <a:br/>
            <a:r>
              <a:t>• Can abstain when evidence is insufficient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892040"/>
            <a:ext cx="10058400" cy="822960"/>
          </a:xfrm>
          <a:prstGeom prst="roundRect">
            <a:avLst/>
          </a:prstGeom>
          <a:solidFill>
            <a:srgbClr val="E1ECFA"/>
          </a:solidFill>
          <a:ln w="1524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056631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233C"/>
                </a:solidFill>
                <a:latin typeface="Aptos"/>
              </a:defRPr>
            </a:pPr>
            <a:r>
              <a:t>LLM = language capability   |   RAG = policy-specific knowledge +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4. End-to-End RAG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Indexing phase + query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1828800" cy="777240"/>
          </a:xfrm>
          <a:prstGeom prst="roundRect">
            <a:avLst/>
          </a:prstGeom>
          <a:solidFill>
            <a:srgbClr val="E1ECFA"/>
          </a:solidFill>
          <a:ln w="1905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233C"/>
                </a:solidFill>
                <a:latin typeface="Aptos"/>
              </a:defRPr>
            </a:pPr>
            <a:r>
              <a:t>Policy PDF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40280" y="1892807"/>
            <a:ext cx="50292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508760"/>
            <a:ext cx="1828800" cy="777240"/>
          </a:xfrm>
          <a:prstGeom prst="roundRect">
            <a:avLst/>
          </a:prstGeom>
          <a:solidFill>
            <a:srgbClr val="E1ECFA"/>
          </a:solidFill>
          <a:ln w="1905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233C"/>
                </a:solidFill>
                <a:latin typeface="Aptos"/>
              </a:defRPr>
            </a:pPr>
            <a:r>
              <a:t>Extract 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1892807"/>
            <a:ext cx="50292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1508760"/>
            <a:ext cx="1828800" cy="777240"/>
          </a:xfrm>
          <a:prstGeom prst="roundRect">
            <a:avLst/>
          </a:prstGeom>
          <a:solidFill>
            <a:srgbClr val="E1ECFA"/>
          </a:solidFill>
          <a:ln w="1905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233C"/>
                </a:solidFill>
                <a:latin typeface="Aptos"/>
              </a:defRPr>
            </a:pPr>
            <a:r>
              <a:t>Section-aware</a:t>
            </a:r>
            <a:br/>
            <a:r>
              <a:t>chunking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03720" y="1892807"/>
            <a:ext cx="50292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06640" y="1508760"/>
            <a:ext cx="1828800" cy="777240"/>
          </a:xfrm>
          <a:prstGeom prst="roundRect">
            <a:avLst/>
          </a:prstGeom>
          <a:solidFill>
            <a:srgbClr val="E1ECFA"/>
          </a:solidFill>
          <a:ln w="1905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233C"/>
                </a:solidFill>
                <a:latin typeface="Aptos"/>
              </a:defRPr>
            </a:pPr>
            <a:r>
              <a:t>Embeddings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0" y="1892807"/>
            <a:ext cx="50292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38360" y="1508760"/>
            <a:ext cx="1828800" cy="777240"/>
          </a:xfrm>
          <a:prstGeom prst="roundRect">
            <a:avLst/>
          </a:prstGeom>
          <a:solidFill>
            <a:srgbClr val="E1ECFA"/>
          </a:solidFill>
          <a:ln w="1905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233C"/>
                </a:solidFill>
                <a:latin typeface="Aptos"/>
              </a:defRPr>
            </a:pPr>
            <a:r>
              <a:t>FAISS</a:t>
            </a:r>
            <a:br/>
            <a:r>
              <a:t>vector index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3794760"/>
            <a:ext cx="1600200" cy="822960"/>
          </a:xfrm>
          <a:prstGeom prst="roundRect">
            <a:avLst/>
          </a:prstGeom>
          <a:solidFill>
            <a:srgbClr val="E2F4EB"/>
          </a:solidFill>
          <a:ln w="1905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4233C"/>
                </a:solidFill>
                <a:latin typeface="Aptos"/>
              </a:defRPr>
            </a:pPr>
            <a:r>
              <a:t>User question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4206240"/>
            <a:ext cx="41148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240280" y="3794760"/>
            <a:ext cx="1600200" cy="822960"/>
          </a:xfrm>
          <a:prstGeom prst="roundRect">
            <a:avLst/>
          </a:prstGeom>
          <a:solidFill>
            <a:srgbClr val="E2F4EB"/>
          </a:solidFill>
          <a:ln w="1905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4233C"/>
                </a:solidFill>
                <a:latin typeface="Aptos"/>
              </a:defRPr>
            </a:pPr>
            <a:r>
              <a:t>Question</a:t>
            </a:r>
            <a:br/>
            <a:r>
              <a:t>embedding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4206240"/>
            <a:ext cx="41148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51960" y="3794760"/>
            <a:ext cx="1600200" cy="822960"/>
          </a:xfrm>
          <a:prstGeom prst="roundRect">
            <a:avLst/>
          </a:prstGeom>
          <a:solidFill>
            <a:srgbClr val="E2F4EB"/>
          </a:solidFill>
          <a:ln w="1905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4233C"/>
                </a:solidFill>
                <a:latin typeface="Aptos"/>
              </a:defRPr>
            </a:pPr>
            <a:r>
              <a:t>Top-K +</a:t>
            </a:r>
            <a:br/>
            <a:r>
              <a:t>similarity threshold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2160" y="4206240"/>
            <a:ext cx="41148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63640" y="3794760"/>
            <a:ext cx="1600200" cy="822960"/>
          </a:xfrm>
          <a:prstGeom prst="roundRect">
            <a:avLst/>
          </a:prstGeom>
          <a:solidFill>
            <a:srgbClr val="E2F4EB"/>
          </a:solidFill>
          <a:ln w="1905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4233C"/>
                </a:solidFill>
                <a:latin typeface="Aptos"/>
              </a:defRPr>
            </a:pPr>
            <a:r>
              <a:t>Retrieved chunks</a:t>
            </a:r>
            <a:br/>
            <a:r>
              <a:t>+ metadata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63840" y="4206240"/>
            <a:ext cx="41148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75320" y="3794760"/>
            <a:ext cx="1600200" cy="822960"/>
          </a:xfrm>
          <a:prstGeom prst="roundRect">
            <a:avLst/>
          </a:prstGeom>
          <a:solidFill>
            <a:srgbClr val="E2F4EB"/>
          </a:solidFill>
          <a:ln w="1905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4233C"/>
                </a:solidFill>
                <a:latin typeface="Aptos"/>
              </a:defRPr>
            </a:pPr>
            <a:r>
              <a:t>LLM + grounded</a:t>
            </a:r>
            <a:br/>
            <a:r>
              <a:t>prompt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75520" y="4206240"/>
            <a:ext cx="41148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87000" y="3794760"/>
            <a:ext cx="1600200" cy="822960"/>
          </a:xfrm>
          <a:prstGeom prst="roundRect">
            <a:avLst/>
          </a:prstGeom>
          <a:solidFill>
            <a:srgbClr val="E2F4EB"/>
          </a:solidFill>
          <a:ln w="1905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4233C"/>
                </a:solidFill>
                <a:latin typeface="Aptos"/>
              </a:defRPr>
            </a:pPr>
            <a:r>
              <a:t>Answer + sources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303520"/>
            <a:ext cx="8549640" cy="685800"/>
          </a:xfrm>
          <a:prstGeom prst="roundRect">
            <a:avLst/>
          </a:prstGeom>
          <a:solidFill>
            <a:srgbClr val="FAEEDC"/>
          </a:solidFill>
          <a:ln w="15240">
            <a:solidFill>
              <a:srgbClr val="CC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5468112"/>
            <a:ext cx="8092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233C"/>
                </a:solidFill>
                <a:latin typeface="Aptos"/>
              </a:defRPr>
            </a:pPr>
            <a:r>
              <a:t>Index once → retrieve the right evidence → generate a grounded response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5. Document Processing &amp; Robust Chunking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Every chunk preserves traceable metadata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011680" cy="777240"/>
          </a:xfrm>
          <a:prstGeom prst="roundRect">
            <a:avLst/>
          </a:prstGeom>
          <a:solidFill>
            <a:srgbClr val="E1ECFA"/>
          </a:solidFill>
          <a:ln w="1905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4233C"/>
                </a:solidFill>
                <a:latin typeface="Aptos"/>
              </a:defRPr>
            </a:pPr>
            <a:r>
              <a:t>PDF page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1810512"/>
            <a:ext cx="64008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46120" y="1417320"/>
            <a:ext cx="2286000" cy="777240"/>
          </a:xfrm>
          <a:prstGeom prst="roundRect">
            <a:avLst/>
          </a:prstGeom>
          <a:solidFill>
            <a:srgbClr val="E1ECFA"/>
          </a:solidFill>
          <a:ln w="1905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4233C"/>
                </a:solidFill>
                <a:latin typeface="Aptos"/>
              </a:defRPr>
            </a:pPr>
            <a:r>
              <a:t>Clean + normalize 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32120" y="1810512"/>
            <a:ext cx="64008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72200" y="1417320"/>
            <a:ext cx="2286000" cy="777240"/>
          </a:xfrm>
          <a:prstGeom prst="roundRect">
            <a:avLst/>
          </a:prstGeom>
          <a:solidFill>
            <a:srgbClr val="E2F4EB"/>
          </a:solidFill>
          <a:ln w="1905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4233C"/>
                </a:solidFill>
                <a:latin typeface="Aptos"/>
              </a:defRPr>
            </a:pPr>
            <a:r>
              <a:t>Detect section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58200" y="1810512"/>
            <a:ext cx="64008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1417320"/>
            <a:ext cx="2468880" cy="777240"/>
          </a:xfrm>
          <a:prstGeom prst="roundRect">
            <a:avLst/>
          </a:prstGeom>
          <a:solidFill>
            <a:srgbClr val="E2F4EB"/>
          </a:solidFill>
          <a:ln w="1905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4233C"/>
                </a:solidFill>
                <a:latin typeface="Aptos"/>
              </a:defRPr>
            </a:pPr>
            <a:r>
              <a:t>Overlap-aware chunks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788920"/>
            <a:ext cx="64008" cy="205740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898648"/>
            <a:ext cx="48280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33C"/>
                </a:solidFill>
                <a:latin typeface="Aptos"/>
              </a:defRPr>
            </a:pPr>
            <a:r>
              <a:t>Chunk metadata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291839"/>
            <a:ext cx="4828031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978"/>
                </a:solidFill>
                <a:latin typeface="Aptos"/>
              </a:defRPr>
            </a:pPr>
            <a:r>
              <a:t>Each chunk stores:</a:t>
            </a:r>
            <a:br/>
            <a:r>
              <a:t>• text</a:t>
            </a:r>
            <a:br/>
            <a:r>
              <a:t>• page number</a:t>
            </a:r>
            <a:br/>
            <a:r>
              <a:t>• section heading</a:t>
            </a:r>
            <a:br/>
            <a:r>
              <a:t>• policy/document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64008" cy="205740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2898648"/>
            <a:ext cx="48280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33C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3291839"/>
            <a:ext cx="4828031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978"/>
                </a:solidFill>
                <a:latin typeface="Aptos"/>
              </a:defRPr>
            </a:pPr>
            <a:r>
              <a:t>• Better traceability</a:t>
            </a:r>
            <a:br/>
            <a:r>
              <a:t>• Source page/section citations</a:t>
            </a:r>
            <a:br/>
            <a:r>
              <a:t>• Easier debugging of retrieval</a:t>
            </a:r>
            <a:br/>
            <a:r>
              <a:t>• Supports future policy/version filtering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5257800"/>
            <a:ext cx="10058400" cy="731520"/>
          </a:xfrm>
          <a:prstGeom prst="roundRect">
            <a:avLst/>
          </a:prstGeom>
          <a:solidFill>
            <a:srgbClr val="FAEEDC"/>
          </a:solidFill>
          <a:ln w="15240">
            <a:solidFill>
              <a:srgbClr val="CC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42239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233C"/>
                </a:solidFill>
                <a:latin typeface="Aptos"/>
              </a:defRPr>
            </a:pPr>
            <a:r>
              <a:t>Chunking principle: keep a coherent clause together; avoid cutting important conditions in the middle.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6. Retrieval: Better Semantic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Normalized embeddings + FAISS cosine-style similarity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64008" cy="205740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22219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2221992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Convert the user question to an embedding.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417320"/>
            <a:ext cx="64008" cy="205740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527048"/>
            <a:ext cx="22219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Semantic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1920240"/>
            <a:ext cx="2221992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Use normalized embeddings with FAISS IndexFlatIP.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64008" cy="205740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527048"/>
            <a:ext cx="22219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Top-K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20240"/>
            <a:ext cx="2221992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Retrieve a small set of relevant chunks, e.g. K = 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1732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417320"/>
            <a:ext cx="64008" cy="205740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1527048"/>
            <a:ext cx="22219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920240"/>
            <a:ext cx="2221992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Discard results below a similarity threshold.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886200"/>
            <a:ext cx="10058400" cy="914400"/>
          </a:xfrm>
          <a:prstGeom prst="roundRect">
            <a:avLst/>
          </a:prstGeom>
          <a:solidFill>
            <a:srgbClr val="F9E5E5"/>
          </a:solidFill>
          <a:ln w="15240"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050791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233C"/>
                </a:solidFill>
                <a:latin typeface="Aptos"/>
              </a:defRPr>
            </a:pPr>
            <a:r>
              <a:t>Why threshold? If no sufficiently relevant policy evidence is found, the system should abstain instead of guessing.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166360"/>
            <a:ext cx="3063240" cy="868680"/>
          </a:xfrm>
          <a:prstGeom prst="roundRect">
            <a:avLst/>
          </a:prstGeom>
          <a:solidFill>
            <a:srgbClr val="E1EC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5166360"/>
            <a:ext cx="64008" cy="86868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5276088"/>
            <a:ext cx="27706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4233C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669280"/>
            <a:ext cx="277063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Room rent limit → relevant room-rent clause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5166360"/>
            <a:ext cx="3063240" cy="868680"/>
          </a:xfrm>
          <a:prstGeom prst="roundRect">
            <a:avLst/>
          </a:prstGeom>
          <a:solidFill>
            <a:srgbClr val="E2F4EB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5166360"/>
            <a:ext cx="64008" cy="86868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5276088"/>
            <a:ext cx="27706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4233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5669280"/>
            <a:ext cx="277063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Top chunks + page + section + 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5166360"/>
            <a:ext cx="3063240" cy="868680"/>
          </a:xfrm>
          <a:prstGeom prst="roundRect">
            <a:avLst/>
          </a:prstGeom>
          <a:solidFill>
            <a:srgbClr val="FAEEDC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5166360"/>
            <a:ext cx="64008" cy="86868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5276088"/>
            <a:ext cx="27706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4233C"/>
                </a:solidFill>
                <a:latin typeface="Aptos"/>
              </a:defRPr>
            </a:pPr>
            <a:r>
              <a:t>Benefit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5669280"/>
            <a:ext cx="277063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Better evidence for the LLM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7. Grounded LLM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Explicit refusal rules reduce unsupported policy claims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94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64008" cy="393192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89888"/>
            <a:ext cx="51023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33C"/>
                </a:solidFill>
                <a:latin typeface="Aptos"/>
              </a:defRPr>
            </a:pPr>
            <a:r>
              <a:t>Grounding prompt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83080"/>
            <a:ext cx="5102352" cy="3310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978"/>
                </a:solidFill>
                <a:latin typeface="Aptos"/>
              </a:defRPr>
            </a:pPr>
            <a:r>
              <a:t>1. Answer ONLY from supplied policy context.</a:t>
            </a:r>
            <a:br/>
            <a:r>
              <a:t>2. Never invent coverage, limits, waiting periods or timelines.</a:t>
            </a:r>
            <a:br/>
            <a:r>
              <a:t>3. Do not use general insurance knowledge.</a:t>
            </a:r>
            <a:br/>
            <a:r>
              <a:t>4. If evidence is insufficient, abstain.</a:t>
            </a:r>
            <a:br/>
            <a:r>
              <a:t>5. Cite page + section for important policy statements.</a:t>
            </a:r>
            <a:br/>
            <a:r>
              <a:t>6. Claims output is a PRE-CHECK, not final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212080" cy="1417320"/>
          </a:xfrm>
          <a:prstGeom prst="roundRect">
            <a:avLst/>
          </a:prstGeom>
          <a:solidFill>
            <a:srgbClr val="E2F4EB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64008" cy="141732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389888"/>
            <a:ext cx="4919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Supported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783080"/>
            <a:ext cx="4919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“What is the room rent limit?”</a:t>
            </a:r>
            <a:br/>
            <a:r>
              <a:t>→ Answer from retrieved policy clause.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71800"/>
            <a:ext cx="5212080" cy="1417320"/>
          </a:xfrm>
          <a:prstGeom prst="roundRect">
            <a:avLst/>
          </a:prstGeom>
          <a:solidFill>
            <a:srgbClr val="F9E5E5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971800"/>
            <a:ext cx="64008" cy="141732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081528"/>
            <a:ext cx="4919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Unsupported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474720"/>
            <a:ext cx="4919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“Does the policy provide a ₹2 lakh dental benefit?”</a:t>
            </a:r>
            <a:br/>
            <a:r>
              <a:t>→ “I cannot confirm this from the available policy information.”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074920"/>
            <a:ext cx="10149840" cy="822960"/>
          </a:xfrm>
          <a:prstGeom prst="roundRect">
            <a:avLst/>
          </a:prstGeom>
          <a:solidFill>
            <a:srgbClr val="FAEEDC"/>
          </a:solidFill>
          <a:ln w="15240">
            <a:solidFill>
              <a:srgbClr val="CC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239512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233C"/>
                </a:solidFill>
                <a:latin typeface="Aptos"/>
              </a:defRPr>
            </a:pPr>
            <a:r>
              <a:t>No evidence → no invented answer → escalate / request more information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8. Example Grounded Customer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Illustrative output using the fictional sample policy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246120" cy="1920240"/>
          </a:xfrm>
          <a:prstGeom prst="roundRect">
            <a:avLst/>
          </a:prstGeom>
          <a:solidFill>
            <a:srgbClr val="E1EC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192024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29535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Customer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295351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978"/>
                </a:solidFill>
                <a:latin typeface="Aptos"/>
              </a:defRPr>
            </a:pPr>
            <a:r>
              <a:t>What is the room rent limit?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1737360" cy="777240"/>
          </a:xfrm>
          <a:prstGeom prst="roundRect">
            <a:avLst/>
          </a:prstGeom>
          <a:solidFill>
            <a:srgbClr val="E2F4EB"/>
          </a:solidFill>
          <a:ln w="1905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233C"/>
                </a:solidFill>
                <a:latin typeface="Aptos"/>
              </a:defRPr>
            </a:pPr>
            <a:r>
              <a:t>Retrieve</a:t>
            </a:r>
            <a:br/>
            <a:r>
              <a:t>policy clause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97880" y="2212848"/>
            <a:ext cx="64008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37960" y="1828800"/>
            <a:ext cx="1737360" cy="777240"/>
          </a:xfrm>
          <a:prstGeom prst="roundRect">
            <a:avLst/>
          </a:prstGeom>
          <a:solidFill>
            <a:srgbClr val="E2F4EB"/>
          </a:solidFill>
          <a:ln w="19050">
            <a:solidFill>
              <a:srgbClr val="2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233C"/>
                </a:solidFill>
                <a:latin typeface="Aptos"/>
              </a:defRPr>
            </a:pPr>
            <a:r>
              <a:t>LLM</a:t>
            </a:r>
            <a:br/>
            <a:r>
              <a:t>with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5320" y="2212848"/>
            <a:ext cx="640080" cy="0"/>
          </a:xfrm>
          <a:prstGeom prst="line">
            <a:avLst/>
          </a:prstGeom>
          <a:ln w="2540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15400" y="1828800"/>
            <a:ext cx="2560320" cy="777240"/>
          </a:xfrm>
          <a:prstGeom prst="roundRect">
            <a:avLst/>
          </a:prstGeom>
          <a:solidFill>
            <a:srgbClr val="FAEEDC"/>
          </a:solidFill>
          <a:ln w="19050">
            <a:solidFill>
              <a:srgbClr val="CC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233C"/>
                </a:solidFill>
                <a:latin typeface="Aptos"/>
              </a:defRPr>
            </a:pPr>
            <a:r>
              <a:t>Answer +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10789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94760"/>
            <a:ext cx="64008" cy="164592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904488"/>
            <a:ext cx="104973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Illustrative final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297680"/>
            <a:ext cx="1049731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978"/>
                </a:solidFill>
                <a:latin typeface="Aptos"/>
              </a:defRPr>
            </a:pPr>
            <a:r>
              <a:t>“The room rent limit is ₹5,000 per day, subject to the policy terms.”</a:t>
            </a:r>
            <a:br/>
            <a:br/>
            <a:r>
              <a:t>Source: Health_Insurance_Policy.pdf — Page 5, Section 5: Room Rent and ICU Limits.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669280"/>
            <a:ext cx="9966960" cy="548640"/>
          </a:xfrm>
          <a:prstGeom prst="roundRect">
            <a:avLst/>
          </a:prstGeom>
          <a:solidFill>
            <a:srgbClr val="E1ECFA"/>
          </a:solidFill>
          <a:ln w="1524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83387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233C"/>
                </a:solidFill>
                <a:latin typeface="Aptos"/>
              </a:defRPr>
            </a:pPr>
            <a:r>
              <a:t>The important point is not only the answer — it is the evidence trail behind the answer.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9. Claims Pre-check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Turn a claim scenario into a structured, policy-based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64008" cy="713232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104058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233C"/>
                </a:solidFill>
                <a:latin typeface="Aptos"/>
              </a:defRPr>
            </a:pPr>
            <a:r>
              <a:t>1.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1040587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Treatment, date, amount, policy details, available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64008" cy="713232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104058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233C"/>
                </a:solidFill>
                <a:latin typeface="Aptos"/>
              </a:defRPr>
            </a:pPr>
            <a:r>
              <a:t>2. 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51760"/>
            <a:ext cx="1040587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Coverage, waiting periods, limits, exclusions,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63240"/>
            <a:ext cx="64008" cy="713232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172968"/>
            <a:ext cx="104058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233C"/>
                </a:solidFill>
                <a:latin typeface="Aptos"/>
              </a:defRPr>
            </a:pPr>
            <a:r>
              <a:t>3. 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66160"/>
            <a:ext cx="1040587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Match scenario facts against retrieved clauses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77639"/>
            <a:ext cx="64008" cy="713232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87368"/>
            <a:ext cx="104058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233C"/>
                </a:solidFill>
                <a:latin typeface="Aptos"/>
              </a:defRPr>
            </a:pPr>
            <a:r>
              <a:t>4. Identify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480559"/>
            <a:ext cx="1040587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Missing information, possible exclusion or limit issue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9204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892040"/>
            <a:ext cx="64008" cy="713232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001768"/>
            <a:ext cx="104058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233C"/>
                </a:solidFill>
                <a:latin typeface="Aptos"/>
              </a:defRPr>
            </a:pPr>
            <a:r>
              <a:t>5. 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394959"/>
            <a:ext cx="1040587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Status + reasons + sources + next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897880"/>
            <a:ext cx="9966960" cy="502920"/>
          </a:xfrm>
          <a:prstGeom prst="roundRect">
            <a:avLst/>
          </a:prstGeom>
          <a:solidFill>
            <a:srgbClr val="F9E5E5"/>
          </a:solidFill>
          <a:ln w="15240"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6062472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233C"/>
                </a:solidFill>
                <a:latin typeface="Aptos"/>
              </a:defRPr>
            </a:pPr>
            <a:r>
              <a:t>Pre-check ≠ final approval. Final decision remains with the authorized claims process.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10. Testing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Test both retrieval and safe answer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29000" cy="2057400"/>
          </a:xfrm>
          <a:prstGeom prst="roundRect">
            <a:avLst/>
          </a:prstGeom>
          <a:solidFill>
            <a:srgbClr val="E2F4EB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64008" cy="205740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31363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33C"/>
                </a:solidFill>
                <a:latin typeface="Aptos"/>
              </a:defRPr>
            </a:pPr>
            <a:r>
              <a:t>Positive policy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3136392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• Coverage</a:t>
            </a:r>
            <a:br/>
            <a:r>
              <a:t>• Room rent / ICU limits</a:t>
            </a:r>
            <a:br/>
            <a:r>
              <a:t>• Waiting periods</a:t>
            </a:r>
            <a:br/>
            <a:r>
              <a:t>• Claim timelines</a:t>
            </a:r>
            <a:br/>
            <a:r>
              <a:t>• Required documents</a:t>
            </a:r>
            <a:br/>
            <a:r>
              <a:t>• Exclusions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2057400"/>
          </a:xfrm>
          <a:prstGeom prst="roundRect">
            <a:avLst/>
          </a:prstGeom>
          <a:solidFill>
            <a:srgbClr val="F9E5E5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205740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344168"/>
            <a:ext cx="31363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33C"/>
                </a:solidFill>
                <a:latin typeface="Aptos"/>
              </a:defRPr>
            </a:pPr>
            <a:r>
              <a:t>Negative / abstention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737360"/>
            <a:ext cx="3136392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• Unsupported dental benefit</a:t>
            </a:r>
            <a:br/>
            <a:r>
              <a:t>• Unsupported international benefit</a:t>
            </a:r>
            <a:br/>
            <a:r>
              <a:t>• Questions not stated in the policy</a:t>
            </a:r>
            <a:br/>
            <a:r>
              <a:t>Expected: refusal rather than guessing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34440"/>
            <a:ext cx="3429000" cy="2057400"/>
          </a:xfrm>
          <a:prstGeom prst="roundRect">
            <a:avLst/>
          </a:prstGeom>
          <a:solidFill>
            <a:srgbClr val="FAEEDC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234440"/>
            <a:ext cx="64008" cy="205740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344168"/>
            <a:ext cx="31363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33C"/>
                </a:solidFill>
                <a:latin typeface="Aptos"/>
              </a:defRPr>
            </a:pPr>
            <a:r>
              <a:t>Claims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737360"/>
            <a:ext cx="3136392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• Potentially covered hospitalization</a:t>
            </a:r>
            <a:br/>
            <a:r>
              <a:t>• Waiting-period issue</a:t>
            </a:r>
            <a:br/>
            <a:r>
              <a:t>• Possible exclusion</a:t>
            </a:r>
            <a:br/>
            <a:r>
              <a:t>• Missing information</a:t>
            </a:r>
            <a:br/>
            <a:r>
              <a:t>Expected: preliminary status + gaps + 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0332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703320"/>
            <a:ext cx="64008" cy="141732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813048"/>
            <a:ext cx="23134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233C"/>
                </a:solidFill>
                <a:latin typeface="Aptos"/>
              </a:defRPr>
            </a:pPr>
            <a:r>
              <a:t>Retrieval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206240"/>
            <a:ext cx="231343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Did the expected clause appear in Top-K?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70332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3703320"/>
            <a:ext cx="64008" cy="141732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3592" y="3813048"/>
            <a:ext cx="23134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233C"/>
                </a:solidFill>
                <a:latin typeface="Aptos"/>
              </a:defRPr>
            </a:pPr>
            <a:r>
              <a:t>Answer correctness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4206240"/>
            <a:ext cx="231343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Does the answer match the policy evidence?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0332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703320"/>
            <a:ext cx="64008" cy="141732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813048"/>
            <a:ext cx="23134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233C"/>
                </a:solidFill>
                <a:latin typeface="Aptos"/>
              </a:defRPr>
            </a:pPr>
            <a:r>
              <a:t>Citation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4206240"/>
            <a:ext cx="231343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Does the cited page/section contain the evidence?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370332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3703320"/>
            <a:ext cx="64008" cy="141732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2" y="3813048"/>
            <a:ext cx="23134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233C"/>
                </a:solidFill>
                <a:latin typeface="Aptos"/>
              </a:defRPr>
            </a:pPr>
            <a:r>
              <a:t>Abstention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4206240"/>
            <a:ext cx="231343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Does the system refuse unsupported claims?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440680"/>
            <a:ext cx="10378440" cy="685800"/>
          </a:xfrm>
          <a:prstGeom prst="roundRect">
            <a:avLst/>
          </a:prstGeom>
          <a:solidFill>
            <a:srgbClr val="E1ECFA"/>
          </a:solidFill>
          <a:ln w="1524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605272"/>
            <a:ext cx="9921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233C"/>
                </a:solidFill>
                <a:latin typeface="Aptos"/>
              </a:defRPr>
            </a:pPr>
            <a:r>
              <a:t>Report actual notebook results — do not claim 100% unless your executed tests produce 100%.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11. Technology Stack, Limitations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  <a:latin typeface="Aptos"/>
              </a:defRPr>
            </a:pPr>
            <a:r>
              <a:t>Practical prototype built in Python / Google Colab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337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64008" cy="82296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30449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4233C"/>
                </a:solidFill>
                <a:latin typeface="Aptos"/>
              </a:defRPr>
            </a:pPr>
            <a:r>
              <a:t>PDF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304495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PyMuPDF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37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82296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344168"/>
            <a:ext cx="30449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4233C"/>
                </a:solidFill>
                <a:latin typeface="Aptos"/>
              </a:defRPr>
            </a:pPr>
            <a:r>
              <a:t>Chunking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737360"/>
            <a:ext cx="304495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Custom section-aware 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234440"/>
            <a:ext cx="3337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234440"/>
            <a:ext cx="64008" cy="82296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344168"/>
            <a:ext cx="30449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4233C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1737360"/>
            <a:ext cx="304495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Sentence Transformers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286000"/>
            <a:ext cx="3337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286000"/>
            <a:ext cx="64008" cy="822960"/>
          </a:xfrm>
          <a:prstGeom prst="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395728"/>
            <a:ext cx="30449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4233C"/>
                </a:solidFill>
                <a:latin typeface="Aptos"/>
              </a:defRPr>
            </a:pPr>
            <a:r>
              <a:t>Vector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788920"/>
            <a:ext cx="304495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FAISS IndexFlatIP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286000"/>
            <a:ext cx="3337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286000"/>
            <a:ext cx="64008" cy="82296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2395728"/>
            <a:ext cx="30449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4233C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788920"/>
            <a:ext cx="304495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Google Gemini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2286000"/>
            <a:ext cx="3337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2286000"/>
            <a:ext cx="64008" cy="82296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2395728"/>
            <a:ext cx="30449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4233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2788920"/>
            <a:ext cx="304495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Retrieval + answer + abstention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520440"/>
            <a:ext cx="5120640" cy="1417320"/>
          </a:xfrm>
          <a:prstGeom prst="roundRect">
            <a:avLst/>
          </a:prstGeom>
          <a:solidFill>
            <a:srgbClr val="FAEEDC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3520440"/>
            <a:ext cx="64008" cy="1417320"/>
          </a:xfrm>
          <a:prstGeom prst="rect">
            <a:avLst/>
          </a:prstGeom>
          <a:solidFill>
            <a:srgbClr val="C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3630168"/>
            <a:ext cx="48280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023360"/>
            <a:ext cx="4828031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• Prototype uses a sample policy</a:t>
            </a:r>
            <a:br/>
            <a:r>
              <a:t>• Retrieval can still miss a relevant clause</a:t>
            </a:r>
            <a:br/>
            <a:r>
              <a:t>• Final claim decisions require authorized 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520440"/>
            <a:ext cx="5120640" cy="1417320"/>
          </a:xfrm>
          <a:prstGeom prst="roundRect">
            <a:avLst/>
          </a:prstGeom>
          <a:solidFill>
            <a:srgbClr val="E2F4EB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520440"/>
            <a:ext cx="64008" cy="1417320"/>
          </a:xfrm>
          <a:prstGeom prst="rect">
            <a:avLst/>
          </a:prstGeom>
          <a:solidFill>
            <a:srgbClr val="2C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3630168"/>
            <a:ext cx="48280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33C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4023360"/>
            <a:ext cx="4828031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978"/>
                </a:solidFill>
                <a:latin typeface="Aptos"/>
              </a:defRPr>
            </a:pPr>
            <a:r>
              <a:t>• Multiple policy versions</a:t>
            </a:r>
            <a:br/>
            <a:r>
              <a:t>• Hybrid keyword + semantic retrieval</a:t>
            </a:r>
            <a:br/>
            <a:r>
              <a:t>• Reranking</a:t>
            </a:r>
            <a:br/>
            <a:r>
              <a:t>• Production UI / audit logging</a:t>
            </a:r>
            <a:br/>
            <a:r>
              <a:t>• Human escalation workflow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349240"/>
            <a:ext cx="10378440" cy="731520"/>
          </a:xfrm>
          <a:prstGeom prst="roundRect">
            <a:avLst/>
          </a:prstGeom>
          <a:solidFill>
            <a:srgbClr val="E1ECFA"/>
          </a:solidFill>
          <a:ln w="15240">
            <a:solidFill>
              <a:srgbClr val="2D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513831"/>
            <a:ext cx="9921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233C"/>
                </a:solidFill>
                <a:latin typeface="Aptos"/>
              </a:defRPr>
            </a:pPr>
            <a:r>
              <a:t>PDF → Chunk → Embed → Vector DB → Retrieve → LLM → Grounded Answer + Citation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1722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C"/>
                </a:solidFill>
              </a:defRPr>
            </a:pPr>
            <a:r>
              <a:t>Key message: the LLM provides language capability; RAG provides policy-specific knowledge and evidence.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8428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